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0" d="100"/>
          <a:sy n="150" d="100"/>
        </p:scale>
        <p:origin x="70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A6E47-C843-6481-3B75-E8908A0DD2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0C6A9A8-6BF7-E2DD-AEA5-5066EED31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B32A56-2130-320C-FB01-67E827C44295}"/>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5" name="Footer Placeholder 4">
            <a:extLst>
              <a:ext uri="{FF2B5EF4-FFF2-40B4-BE49-F238E27FC236}">
                <a16:creationId xmlns:a16="http://schemas.microsoft.com/office/drawing/2014/main" id="{11CAA316-4FE2-70F1-EDC7-D61C5BEC2F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5B2178-6F91-672E-22C1-68C7B8207DBB}"/>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3017601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3FEA6-B02D-AC09-A146-9B46279336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E4A3432-6D6B-F880-771C-97368E9A77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B7B0A9-9033-AB6D-F4D5-9FF446487EE0}"/>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5" name="Footer Placeholder 4">
            <a:extLst>
              <a:ext uri="{FF2B5EF4-FFF2-40B4-BE49-F238E27FC236}">
                <a16:creationId xmlns:a16="http://schemas.microsoft.com/office/drawing/2014/main" id="{BF439A25-321E-AC85-60D6-07B3E37617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F9427B-C5D2-DDA4-5261-58CCF9FED944}"/>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2536078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7DEDA-1935-74C2-C58F-ED27FDA4F9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FA33322-808A-0EDF-086E-8616EAE071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1143F2-EDD5-CC75-C39E-152925E3CAEF}"/>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5" name="Footer Placeholder 4">
            <a:extLst>
              <a:ext uri="{FF2B5EF4-FFF2-40B4-BE49-F238E27FC236}">
                <a16:creationId xmlns:a16="http://schemas.microsoft.com/office/drawing/2014/main" id="{6EF6130D-B2F7-9C78-C1E7-41C018278A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C2B661-C29C-025E-F4AE-6EB01E8623CA}"/>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1276103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2A966-C28B-E9CC-F3D0-9B629308B45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0764AA-B844-9EDD-6F86-85904FEFBB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09A72F6-6B55-EEE1-3004-1F43AA0B7B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BE992F9-2C5F-59B9-895B-4A37005B35DB}"/>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6" name="Footer Placeholder 5">
            <a:extLst>
              <a:ext uri="{FF2B5EF4-FFF2-40B4-BE49-F238E27FC236}">
                <a16:creationId xmlns:a16="http://schemas.microsoft.com/office/drawing/2014/main" id="{7814BBE5-47E4-C2C8-61D6-78D7953ED36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7BADAA-783C-741D-B188-134708DBC80F}"/>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3374413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82F1E-3CD0-99EF-3E76-E632A991BC6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3BA5082-D9ED-35EA-A834-32D651260C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B80C55-AD86-BAA9-C6AE-3E9CE356B3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82B8EF0-ABAF-5B5A-491D-3A71FA5FC8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A0422D-BCBA-90E5-23EF-7DA35B1772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E3634EE-7479-49F0-CE5F-853E614D7E8E}"/>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8" name="Footer Placeholder 7">
            <a:extLst>
              <a:ext uri="{FF2B5EF4-FFF2-40B4-BE49-F238E27FC236}">
                <a16:creationId xmlns:a16="http://schemas.microsoft.com/office/drawing/2014/main" id="{6EF1468A-88AA-23B7-3CC1-53A1AD01E09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7C28ADB-2B51-79F3-F366-D8D651CB8860}"/>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3442424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9AC11-95A3-376D-B568-D79AF2CBEB3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E9F2292-1EC9-497E-A0B2-FCB66C4ADC08}"/>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4" name="Footer Placeholder 3">
            <a:extLst>
              <a:ext uri="{FF2B5EF4-FFF2-40B4-BE49-F238E27FC236}">
                <a16:creationId xmlns:a16="http://schemas.microsoft.com/office/drawing/2014/main" id="{06870EE6-FBFF-9884-62FD-59652DE2C9A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A2543E-0287-DDA6-688F-1E8111FA97E7}"/>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1840141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FD09B7-9439-237C-F136-A5C3FED0381E}"/>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3" name="Footer Placeholder 2">
            <a:extLst>
              <a:ext uri="{FF2B5EF4-FFF2-40B4-BE49-F238E27FC236}">
                <a16:creationId xmlns:a16="http://schemas.microsoft.com/office/drawing/2014/main" id="{D931183D-32D3-33D6-C063-72586BB4A35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8C3EB6D-408C-9263-F7B5-7ABAE987665F}"/>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410181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FD510-7C0D-CA68-F9D9-DECC1B5ED4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01D0A19-ECAE-5C51-38FD-1B84F2C23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F255755-1ADA-47F1-57F1-27B7183F17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FDA81A-A9F8-F80F-F165-E1A3235654E7}"/>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6" name="Footer Placeholder 5">
            <a:extLst>
              <a:ext uri="{FF2B5EF4-FFF2-40B4-BE49-F238E27FC236}">
                <a16:creationId xmlns:a16="http://schemas.microsoft.com/office/drawing/2014/main" id="{BB38927F-EDF0-062B-E772-1060000184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9AEBE6-DE2A-4A92-6C0B-2587E5DD1CB8}"/>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1491383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64123-E4E0-94D4-9E94-8616F5CE6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2F5D90F-39A5-0F2D-7020-274BE95D6C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989091-7BAE-C86F-4272-DADC51FCE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19F970-04DF-D7CF-391B-0EB2FC1C41F7}"/>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6" name="Footer Placeholder 5">
            <a:extLst>
              <a:ext uri="{FF2B5EF4-FFF2-40B4-BE49-F238E27FC236}">
                <a16:creationId xmlns:a16="http://schemas.microsoft.com/office/drawing/2014/main" id="{1738FDF3-3B01-54BA-C2A4-59B7BE35DB5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1EC3A7-D228-0DFD-6E52-EEB29B780397}"/>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14281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E007-33EC-257E-D3A1-1F514AC807B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01A7F18-D208-F574-BC03-5AF2D98FCE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79194B-B944-CB65-62D4-142EA075B441}"/>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5" name="Footer Placeholder 4">
            <a:extLst>
              <a:ext uri="{FF2B5EF4-FFF2-40B4-BE49-F238E27FC236}">
                <a16:creationId xmlns:a16="http://schemas.microsoft.com/office/drawing/2014/main" id="{B0AF3AA1-5367-5B5B-A72A-0DEA5F8741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CA6AE5-E40C-29D0-588C-9F2EFF8D27ED}"/>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2924762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7F8BAB-8666-FF29-E1B3-A98BADC942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7B3D018-4D9E-D462-144E-5AD0E4E022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63802D-AE9E-3BDF-B6F7-D36BF0B4E9B4}"/>
              </a:ext>
            </a:extLst>
          </p:cNvPr>
          <p:cNvSpPr>
            <a:spLocks noGrp="1"/>
          </p:cNvSpPr>
          <p:nvPr>
            <p:ph type="dt" sz="half" idx="10"/>
          </p:nvPr>
        </p:nvSpPr>
        <p:spPr/>
        <p:txBody>
          <a:bodyPr/>
          <a:lstStyle/>
          <a:p>
            <a:fld id="{76406C8F-3E6E-471B-A6BE-00F27ED65230}" type="datetimeFigureOut">
              <a:rPr lang="en-GB" smtClean="0"/>
              <a:t>25/11/2025</a:t>
            </a:fld>
            <a:endParaRPr lang="en-GB"/>
          </a:p>
        </p:txBody>
      </p:sp>
      <p:sp>
        <p:nvSpPr>
          <p:cNvPr id="5" name="Footer Placeholder 4">
            <a:extLst>
              <a:ext uri="{FF2B5EF4-FFF2-40B4-BE49-F238E27FC236}">
                <a16:creationId xmlns:a16="http://schemas.microsoft.com/office/drawing/2014/main" id="{EDBDC544-DEAC-A24A-026F-D204DEB667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089C8B-37AC-B86B-DAEB-EC62B7A4848D}"/>
              </a:ext>
            </a:extLst>
          </p:cNvPr>
          <p:cNvSpPr>
            <a:spLocks noGrp="1"/>
          </p:cNvSpPr>
          <p:nvPr>
            <p:ph type="sldNum" sz="quarter" idx="12"/>
          </p:nvPr>
        </p:nvSpPr>
        <p:spPr/>
        <p:txBody>
          <a:bodyPr/>
          <a:lstStyle/>
          <a:p>
            <a:fld id="{4CDF7952-16C2-4467-87CB-2DBEE210106C}" type="slidenum">
              <a:rPr lang="en-GB" smtClean="0"/>
              <a:t>‹#›</a:t>
            </a:fld>
            <a:endParaRPr lang="en-GB"/>
          </a:p>
        </p:txBody>
      </p:sp>
    </p:spTree>
    <p:extLst>
      <p:ext uri="{BB962C8B-B14F-4D97-AF65-F5344CB8AC3E}">
        <p14:creationId xmlns:p14="http://schemas.microsoft.com/office/powerpoint/2010/main" val="1708432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FC3C19-D8A5-193E-0B27-7E92440983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0F3F3C-51DC-A7DC-3B8E-6AC7F8E589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ED084E-D523-1C64-87DD-A9700A4C33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406C8F-3E6E-471B-A6BE-00F27ED65230}" type="datetimeFigureOut">
              <a:rPr lang="en-GB" smtClean="0"/>
              <a:t>25/11/2025</a:t>
            </a:fld>
            <a:endParaRPr lang="en-GB"/>
          </a:p>
        </p:txBody>
      </p:sp>
      <p:sp>
        <p:nvSpPr>
          <p:cNvPr id="5" name="Footer Placeholder 4">
            <a:extLst>
              <a:ext uri="{FF2B5EF4-FFF2-40B4-BE49-F238E27FC236}">
                <a16:creationId xmlns:a16="http://schemas.microsoft.com/office/drawing/2014/main" id="{4858F5FF-03B0-5094-99A3-B218F68AE3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E9266E7-218D-69F0-80EC-2391CB60E1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F7952-16C2-4467-87CB-2DBEE210106C}" type="slidenum">
              <a:rPr lang="en-GB" smtClean="0"/>
              <a:t>‹#›</a:t>
            </a:fld>
            <a:endParaRPr lang="en-GB"/>
          </a:p>
        </p:txBody>
      </p:sp>
    </p:spTree>
    <p:extLst>
      <p:ext uri="{BB962C8B-B14F-4D97-AF65-F5344CB8AC3E}">
        <p14:creationId xmlns:p14="http://schemas.microsoft.com/office/powerpoint/2010/main" val="1756309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2BF0-9ACB-86E6-73A2-A0ECB1CFBE10}"/>
              </a:ext>
            </a:extLst>
          </p:cNvPr>
          <p:cNvSpPr>
            <a:spLocks noGrp="1"/>
          </p:cNvSpPr>
          <p:nvPr>
            <p:ph type="ctrTitle"/>
          </p:nvPr>
        </p:nvSpPr>
        <p:spPr>
          <a:xfrm>
            <a:off x="1524000" y="1122363"/>
            <a:ext cx="9144000" cy="1123880"/>
          </a:xfrm>
        </p:spPr>
        <p:txBody>
          <a:bodyPr/>
          <a:lstStyle/>
          <a:p>
            <a:r>
              <a:rPr lang="en-GB" dirty="0">
                <a:solidFill>
                  <a:srgbClr val="0F0F0F"/>
                </a:solidFill>
              </a:rPr>
              <a:t>Assigment#2</a:t>
            </a:r>
          </a:p>
        </p:txBody>
      </p:sp>
      <p:sp>
        <p:nvSpPr>
          <p:cNvPr id="3" name="Subtitle 2">
            <a:extLst>
              <a:ext uri="{FF2B5EF4-FFF2-40B4-BE49-F238E27FC236}">
                <a16:creationId xmlns:a16="http://schemas.microsoft.com/office/drawing/2014/main" id="{C5FB102A-73D1-A1E8-266B-780C38C49ADC}"/>
              </a:ext>
            </a:extLst>
          </p:cNvPr>
          <p:cNvSpPr>
            <a:spLocks noGrp="1"/>
          </p:cNvSpPr>
          <p:nvPr>
            <p:ph type="subTitle" idx="1"/>
          </p:nvPr>
        </p:nvSpPr>
        <p:spPr/>
        <p:txBody>
          <a:bodyPr/>
          <a:lstStyle/>
          <a:p>
            <a:r>
              <a:rPr lang="en-GB" dirty="0">
                <a:solidFill>
                  <a:srgbClr val="0F0F0F"/>
                </a:solidFill>
              </a:rPr>
              <a:t>Abdulrahman </a:t>
            </a:r>
            <a:r>
              <a:rPr lang="en-GB" dirty="0" err="1">
                <a:solidFill>
                  <a:srgbClr val="0F0F0F"/>
                </a:solidFill>
              </a:rPr>
              <a:t>Atyani</a:t>
            </a:r>
            <a:r>
              <a:rPr lang="en-GB" dirty="0">
                <a:solidFill>
                  <a:srgbClr val="0F0F0F"/>
                </a:solidFill>
              </a:rPr>
              <a:t>              1221808</a:t>
            </a:r>
          </a:p>
          <a:p>
            <a:r>
              <a:rPr lang="en-GB" dirty="0">
                <a:solidFill>
                  <a:srgbClr val="0F0F0F"/>
                </a:solidFill>
              </a:rPr>
              <a:t>   Tareq Nazzal                             1221899</a:t>
            </a:r>
          </a:p>
        </p:txBody>
      </p:sp>
    </p:spTree>
    <p:extLst>
      <p:ext uri="{BB962C8B-B14F-4D97-AF65-F5344CB8AC3E}">
        <p14:creationId xmlns:p14="http://schemas.microsoft.com/office/powerpoint/2010/main" val="55353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C3BEF-F5CA-1B6F-7B74-72341C8AE869}"/>
              </a:ext>
            </a:extLst>
          </p:cNvPr>
          <p:cNvSpPr>
            <a:spLocks noGrp="1"/>
          </p:cNvSpPr>
          <p:nvPr>
            <p:ph type="title"/>
          </p:nvPr>
        </p:nvSpPr>
        <p:spPr>
          <a:xfrm>
            <a:off x="838200" y="365125"/>
            <a:ext cx="5314950" cy="993775"/>
          </a:xfrm>
        </p:spPr>
        <p:txBody>
          <a:bodyPr>
            <a:normAutofit/>
          </a:bodyPr>
          <a:lstStyle/>
          <a:p>
            <a:r>
              <a:rPr lang="en-GB" sz="3000" b="1" dirty="0">
                <a:solidFill>
                  <a:srgbClr val="0F0F0F"/>
                </a:solidFill>
              </a:rPr>
              <a:t>Part#1-(A):Non-Linaer regression </a:t>
            </a:r>
          </a:p>
        </p:txBody>
      </p:sp>
      <p:pic>
        <p:nvPicPr>
          <p:cNvPr id="7" name="Content Placeholder 6" descr="A graph with colored lines&#10;&#10;AI-generated content may be incorrect.">
            <a:extLst>
              <a:ext uri="{FF2B5EF4-FFF2-40B4-BE49-F238E27FC236}">
                <a16:creationId xmlns:a16="http://schemas.microsoft.com/office/drawing/2014/main" id="{CC26A861-FAD4-6C4E-FE1D-F44E87F190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1850" y="1513720"/>
            <a:ext cx="7861299" cy="3223380"/>
          </a:xfrm>
        </p:spPr>
      </p:pic>
      <p:sp>
        <p:nvSpPr>
          <p:cNvPr id="4" name="TextBox 3"/>
          <p:cNvSpPr txBox="1"/>
          <p:nvPr/>
        </p:nvSpPr>
        <p:spPr>
          <a:xfrm>
            <a:off x="819150" y="4839970"/>
            <a:ext cx="8229600" cy="1371600"/>
          </a:xfrm>
          <a:prstGeom prst="rect">
            <a:avLst/>
          </a:prstGeom>
          <a:noFill/>
        </p:spPr>
        <p:txBody>
          <a:bodyPr wrap="square">
            <a:spAutoFit/>
          </a:bodyPr>
          <a:lstStyle/>
          <a:p>
            <a:pPr>
              <a:defRPr sz="2000">
                <a:solidFill>
                  <a:srgbClr val="0F0F0F"/>
                </a:solidFill>
              </a:defRPr>
            </a:pPr>
            <a:r>
              <a:rPr dirty="0"/>
              <a:t>When λ = 0, the model overfits because the polynomial becomes too flexible and follows the noise. As λ increases, the curve becomes smoother but may underfit. A small λ gives the best balance.</a:t>
            </a:r>
          </a:p>
        </p:txBody>
      </p:sp>
    </p:spTree>
    <p:extLst>
      <p:ext uri="{BB962C8B-B14F-4D97-AF65-F5344CB8AC3E}">
        <p14:creationId xmlns:p14="http://schemas.microsoft.com/office/powerpoint/2010/main" val="1367495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25607-BEC3-46E2-A8D1-A9245CA7490B}"/>
              </a:ext>
            </a:extLst>
          </p:cNvPr>
          <p:cNvSpPr>
            <a:spLocks noGrp="1"/>
          </p:cNvSpPr>
          <p:nvPr>
            <p:ph type="title"/>
          </p:nvPr>
        </p:nvSpPr>
        <p:spPr>
          <a:xfrm>
            <a:off x="838200" y="365125"/>
            <a:ext cx="7918450" cy="1031875"/>
          </a:xfrm>
        </p:spPr>
        <p:txBody>
          <a:bodyPr>
            <a:normAutofit/>
          </a:bodyPr>
          <a:lstStyle/>
          <a:p>
            <a:r>
              <a:rPr lang="en-GB" sz="3000" b="1" dirty="0">
                <a:solidFill>
                  <a:srgbClr val="0F0F0F"/>
                </a:solidFill>
              </a:rPr>
              <a:t>B) non-linear regression (without regularization)</a:t>
            </a:r>
            <a:br>
              <a:rPr lang="en-GB" sz="3000" b="1" dirty="0"/>
            </a:br>
            <a:r>
              <a:rPr lang="en-GB" sz="3000" b="1" dirty="0">
                <a:solidFill>
                  <a:srgbClr val="0F0F0F"/>
                </a:solidFill>
              </a:rPr>
              <a:t>1 RBF function</a:t>
            </a:r>
          </a:p>
        </p:txBody>
      </p:sp>
      <p:pic>
        <p:nvPicPr>
          <p:cNvPr id="7" name="Content Placeholder 6" descr="A graph of a function&#10;&#10;AI-generated content may be incorrect.">
            <a:extLst>
              <a:ext uri="{FF2B5EF4-FFF2-40B4-BE49-F238E27FC236}">
                <a16:creationId xmlns:a16="http://schemas.microsoft.com/office/drawing/2014/main" id="{FC0584A1-E176-6453-85DB-B7C2BF79A2C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39" r="8146"/>
          <a:stretch/>
        </p:blipFill>
        <p:spPr>
          <a:xfrm>
            <a:off x="1943100" y="1501959"/>
            <a:ext cx="8305800" cy="3854082"/>
          </a:xfrm>
        </p:spPr>
      </p:pic>
      <p:sp>
        <p:nvSpPr>
          <p:cNvPr id="4" name="TextBox 3">
            <a:extLst>
              <a:ext uri="{FF2B5EF4-FFF2-40B4-BE49-F238E27FC236}">
                <a16:creationId xmlns:a16="http://schemas.microsoft.com/office/drawing/2014/main" id="{18A7DA4F-B3C4-141D-D6FF-B3F89D57E339}"/>
              </a:ext>
            </a:extLst>
          </p:cNvPr>
          <p:cNvSpPr txBox="1"/>
          <p:nvPr/>
        </p:nvSpPr>
        <p:spPr>
          <a:xfrm>
            <a:off x="1568450" y="5406246"/>
            <a:ext cx="6096000" cy="707886"/>
          </a:xfrm>
          <a:prstGeom prst="rect">
            <a:avLst/>
          </a:prstGeom>
          <a:noFill/>
        </p:spPr>
        <p:txBody>
          <a:bodyPr wrap="square">
            <a:spAutoFit/>
          </a:bodyPr>
          <a:lstStyle/>
          <a:p>
            <a:pPr>
              <a:defRPr sz="2000">
                <a:solidFill>
                  <a:srgbClr val="0F0F0F"/>
                </a:solidFill>
              </a:defRPr>
            </a:pPr>
            <a:r>
              <a:rPr lang="en-US" dirty="0"/>
              <a:t>With only 1 RBF, the model cannot follow the sine function and clearly underfits.</a:t>
            </a:r>
          </a:p>
        </p:txBody>
      </p:sp>
    </p:spTree>
    <p:extLst>
      <p:ext uri="{BB962C8B-B14F-4D97-AF65-F5344CB8AC3E}">
        <p14:creationId xmlns:p14="http://schemas.microsoft.com/office/powerpoint/2010/main" val="3655486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751DB-F564-AF9B-77F5-C8E895367F55}"/>
              </a:ext>
            </a:extLst>
          </p:cNvPr>
          <p:cNvSpPr>
            <a:spLocks noGrp="1"/>
          </p:cNvSpPr>
          <p:nvPr>
            <p:ph type="title"/>
          </p:nvPr>
        </p:nvSpPr>
        <p:spPr>
          <a:xfrm>
            <a:off x="838201" y="365125"/>
            <a:ext cx="3098800" cy="707885"/>
          </a:xfrm>
        </p:spPr>
        <p:txBody>
          <a:bodyPr>
            <a:normAutofit/>
          </a:bodyPr>
          <a:lstStyle/>
          <a:p>
            <a:r>
              <a:rPr lang="en-GB" sz="3000" b="1" dirty="0">
                <a:solidFill>
                  <a:srgbClr val="0F0F0F"/>
                </a:solidFill>
              </a:rPr>
              <a:t>5 RBF functions</a:t>
            </a:r>
          </a:p>
        </p:txBody>
      </p:sp>
      <p:pic>
        <p:nvPicPr>
          <p:cNvPr id="6" name="Content Placeholder 5" descr="A graph of a function&#10;&#10;AI-generated content may be incorrect.">
            <a:extLst>
              <a:ext uri="{FF2B5EF4-FFF2-40B4-BE49-F238E27FC236}">
                <a16:creationId xmlns:a16="http://schemas.microsoft.com/office/drawing/2014/main" id="{893C5F77-4A60-F759-27C5-FFD89CD3EE6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091" t="-201" r="7275" b="-1"/>
          <a:stretch/>
        </p:blipFill>
        <p:spPr>
          <a:xfrm>
            <a:off x="2146300" y="1248965"/>
            <a:ext cx="7899400" cy="4360069"/>
          </a:xfrm>
        </p:spPr>
      </p:pic>
      <p:sp>
        <p:nvSpPr>
          <p:cNvPr id="4" name="TextBox 3">
            <a:extLst>
              <a:ext uri="{FF2B5EF4-FFF2-40B4-BE49-F238E27FC236}">
                <a16:creationId xmlns:a16="http://schemas.microsoft.com/office/drawing/2014/main" id="{DA416263-F1AF-94B2-FB36-386E96471045}"/>
              </a:ext>
            </a:extLst>
          </p:cNvPr>
          <p:cNvSpPr txBox="1"/>
          <p:nvPr/>
        </p:nvSpPr>
        <p:spPr>
          <a:xfrm>
            <a:off x="1308100" y="5784989"/>
            <a:ext cx="6096000" cy="707886"/>
          </a:xfrm>
          <a:prstGeom prst="rect">
            <a:avLst/>
          </a:prstGeom>
          <a:noFill/>
        </p:spPr>
        <p:txBody>
          <a:bodyPr wrap="square">
            <a:spAutoFit/>
          </a:bodyPr>
          <a:lstStyle/>
          <a:p>
            <a:pPr>
              <a:defRPr sz="2000">
                <a:solidFill>
                  <a:srgbClr val="0F0F0F"/>
                </a:solidFill>
              </a:defRPr>
            </a:pPr>
            <a:r>
              <a:rPr lang="en-US" dirty="0"/>
              <a:t>With 5 RBFs, the model improves and follows the general shape but still shows slight underfitting.</a:t>
            </a:r>
          </a:p>
        </p:txBody>
      </p:sp>
    </p:spTree>
    <p:extLst>
      <p:ext uri="{BB962C8B-B14F-4D97-AF65-F5344CB8AC3E}">
        <p14:creationId xmlns:p14="http://schemas.microsoft.com/office/powerpoint/2010/main" val="367080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E791-F063-641C-B591-94BBEBEB0E87}"/>
              </a:ext>
            </a:extLst>
          </p:cNvPr>
          <p:cNvSpPr>
            <a:spLocks noGrp="1"/>
          </p:cNvSpPr>
          <p:nvPr>
            <p:ph type="title"/>
          </p:nvPr>
        </p:nvSpPr>
        <p:spPr>
          <a:xfrm>
            <a:off x="838200" y="365125"/>
            <a:ext cx="3352800" cy="707887"/>
          </a:xfrm>
        </p:spPr>
        <p:txBody>
          <a:bodyPr>
            <a:normAutofit/>
          </a:bodyPr>
          <a:lstStyle/>
          <a:p>
            <a:r>
              <a:rPr lang="en-GB" sz="3000" b="1" dirty="0">
                <a:solidFill>
                  <a:srgbClr val="0F0F0F"/>
                </a:solidFill>
              </a:rPr>
              <a:t> 10 RBF functions</a:t>
            </a:r>
          </a:p>
        </p:txBody>
      </p:sp>
      <p:pic>
        <p:nvPicPr>
          <p:cNvPr id="7" name="Content Placeholder 6" descr="A graph of a function&#10;&#10;AI-generated content may be incorrect.">
            <a:extLst>
              <a:ext uri="{FF2B5EF4-FFF2-40B4-BE49-F238E27FC236}">
                <a16:creationId xmlns:a16="http://schemas.microsoft.com/office/drawing/2014/main" id="{5157DA57-7EA8-E924-C8D5-3CE1B3D2705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580" t="91" r="7244" b="1"/>
          <a:stretch/>
        </p:blipFill>
        <p:spPr>
          <a:xfrm>
            <a:off x="2066924" y="1255315"/>
            <a:ext cx="8058151" cy="4347369"/>
          </a:xfrm>
        </p:spPr>
      </p:pic>
      <p:sp>
        <p:nvSpPr>
          <p:cNvPr id="4" name="TextBox 3">
            <a:extLst>
              <a:ext uri="{FF2B5EF4-FFF2-40B4-BE49-F238E27FC236}">
                <a16:creationId xmlns:a16="http://schemas.microsoft.com/office/drawing/2014/main" id="{530EF95F-274B-EC51-3C75-CDDB39E940DE}"/>
              </a:ext>
            </a:extLst>
          </p:cNvPr>
          <p:cNvSpPr txBox="1"/>
          <p:nvPr/>
        </p:nvSpPr>
        <p:spPr>
          <a:xfrm>
            <a:off x="1574800" y="5691257"/>
            <a:ext cx="6096000" cy="707886"/>
          </a:xfrm>
          <a:prstGeom prst="rect">
            <a:avLst/>
          </a:prstGeom>
          <a:noFill/>
        </p:spPr>
        <p:txBody>
          <a:bodyPr wrap="square">
            <a:spAutoFit/>
          </a:bodyPr>
          <a:lstStyle/>
          <a:p>
            <a:pPr>
              <a:defRPr sz="2000">
                <a:solidFill>
                  <a:srgbClr val="0F0F0F"/>
                </a:solidFill>
              </a:defRPr>
            </a:pPr>
            <a:r>
              <a:rPr lang="en-US" dirty="0"/>
              <a:t>With 10 RBFs, the model fits the data smoothly and gives the best generalization.</a:t>
            </a:r>
          </a:p>
        </p:txBody>
      </p:sp>
    </p:spTree>
    <p:extLst>
      <p:ext uri="{BB962C8B-B14F-4D97-AF65-F5344CB8AC3E}">
        <p14:creationId xmlns:p14="http://schemas.microsoft.com/office/powerpoint/2010/main" val="3394410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02AB5-CC2C-E47B-1D96-882DA97C4E62}"/>
              </a:ext>
            </a:extLst>
          </p:cNvPr>
          <p:cNvSpPr>
            <a:spLocks noGrp="1"/>
          </p:cNvSpPr>
          <p:nvPr>
            <p:ph type="title"/>
          </p:nvPr>
        </p:nvSpPr>
        <p:spPr>
          <a:xfrm>
            <a:off x="838200" y="365125"/>
            <a:ext cx="3606800" cy="707887"/>
          </a:xfrm>
        </p:spPr>
        <p:txBody>
          <a:bodyPr>
            <a:normAutofit/>
          </a:bodyPr>
          <a:lstStyle/>
          <a:p>
            <a:r>
              <a:rPr lang="en-GB" sz="3000" b="1" dirty="0">
                <a:solidFill>
                  <a:srgbClr val="0F0F0F"/>
                </a:solidFill>
              </a:rPr>
              <a:t>50 RBF functions</a:t>
            </a:r>
          </a:p>
        </p:txBody>
      </p:sp>
      <p:pic>
        <p:nvPicPr>
          <p:cNvPr id="7" name="Content Placeholder 6" descr="A white sheet with blue lines&#10;&#10;AI-generated content may be incorrect.">
            <a:extLst>
              <a:ext uri="{FF2B5EF4-FFF2-40B4-BE49-F238E27FC236}">
                <a16:creationId xmlns:a16="http://schemas.microsoft.com/office/drawing/2014/main" id="{B7F2D230-ADD6-A30B-5DCE-979BB1751F7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177" t="91" b="-1"/>
          <a:stretch/>
        </p:blipFill>
        <p:spPr>
          <a:xfrm>
            <a:off x="1684496" y="1255315"/>
            <a:ext cx="8823007" cy="4347369"/>
          </a:xfrm>
        </p:spPr>
      </p:pic>
      <p:sp>
        <p:nvSpPr>
          <p:cNvPr id="4" name="TextBox 3">
            <a:extLst>
              <a:ext uri="{FF2B5EF4-FFF2-40B4-BE49-F238E27FC236}">
                <a16:creationId xmlns:a16="http://schemas.microsoft.com/office/drawing/2014/main" id="{0A5B50E0-30CC-E43A-EAE4-7523E1C915FF}"/>
              </a:ext>
            </a:extLst>
          </p:cNvPr>
          <p:cNvSpPr txBox="1"/>
          <p:nvPr/>
        </p:nvSpPr>
        <p:spPr>
          <a:xfrm>
            <a:off x="1425894" y="5604669"/>
            <a:ext cx="6096000" cy="707886"/>
          </a:xfrm>
          <a:prstGeom prst="rect">
            <a:avLst/>
          </a:prstGeom>
          <a:noFill/>
        </p:spPr>
        <p:txBody>
          <a:bodyPr wrap="square">
            <a:spAutoFit/>
          </a:bodyPr>
          <a:lstStyle/>
          <a:p>
            <a:pPr>
              <a:defRPr sz="2000">
                <a:solidFill>
                  <a:srgbClr val="0F0F0F"/>
                </a:solidFill>
              </a:defRPr>
            </a:pPr>
            <a:r>
              <a:rPr lang="en-US" dirty="0"/>
              <a:t>With 50 RBFs, the model becomes too flexible and starts fitting noise, causing overfitting.</a:t>
            </a:r>
          </a:p>
        </p:txBody>
      </p:sp>
    </p:spTree>
    <p:extLst>
      <p:ext uri="{BB962C8B-B14F-4D97-AF65-F5344CB8AC3E}">
        <p14:creationId xmlns:p14="http://schemas.microsoft.com/office/powerpoint/2010/main" val="2855794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6A72-4EB9-0805-1692-98793903A0C9}"/>
              </a:ext>
            </a:extLst>
          </p:cNvPr>
          <p:cNvSpPr>
            <a:spLocks noGrp="1"/>
          </p:cNvSpPr>
          <p:nvPr>
            <p:ph type="title"/>
          </p:nvPr>
        </p:nvSpPr>
        <p:spPr>
          <a:xfrm>
            <a:off x="838200" y="365125"/>
            <a:ext cx="10515600" cy="4524927"/>
          </a:xfrm>
        </p:spPr>
        <p:txBody>
          <a:bodyPr/>
          <a:lstStyle/>
          <a:p>
            <a:pPr algn="ctr"/>
            <a:r>
              <a:rPr lang="en-GB" dirty="0">
                <a:solidFill>
                  <a:srgbClr val="0F0F0F"/>
                </a:solidFill>
              </a:rPr>
              <a:t>Part 2 – Logistic Regression</a:t>
            </a:r>
          </a:p>
        </p:txBody>
      </p:sp>
    </p:spTree>
    <p:extLst>
      <p:ext uri="{BB962C8B-B14F-4D97-AF65-F5344CB8AC3E}">
        <p14:creationId xmlns:p14="http://schemas.microsoft.com/office/powerpoint/2010/main" val="2710115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46508-0EC5-D3CE-2CF3-B76A7F0AE1FB}"/>
              </a:ext>
            </a:extLst>
          </p:cNvPr>
          <p:cNvSpPr>
            <a:spLocks noGrp="1"/>
          </p:cNvSpPr>
          <p:nvPr>
            <p:ph type="title"/>
          </p:nvPr>
        </p:nvSpPr>
        <p:spPr>
          <a:xfrm>
            <a:off x="838200" y="4512365"/>
            <a:ext cx="10515600" cy="1560443"/>
          </a:xfrm>
        </p:spPr>
        <p:txBody>
          <a:bodyPr>
            <a:normAutofit/>
          </a:bodyPr>
          <a:lstStyle/>
          <a:p>
            <a:r>
              <a:rPr lang="en-GB" sz="2000" dirty="0">
                <a:solidFill>
                  <a:srgbClr val="0F0F0F"/>
                </a:solidFill>
              </a:rPr>
              <a:t>The plot shows that all models achieve very similar accuracy across the training, validation, and test sets, which indicates that there is no strong overfitting. It also suggests that the models generalize well, even as polynomial complexity increases.</a:t>
            </a:r>
          </a:p>
        </p:txBody>
      </p:sp>
      <p:pic>
        <p:nvPicPr>
          <p:cNvPr id="5" name="Content Placeholder 4">
            <a:extLst>
              <a:ext uri="{FF2B5EF4-FFF2-40B4-BE49-F238E27FC236}">
                <a16:creationId xmlns:a16="http://schemas.microsoft.com/office/drawing/2014/main" id="{185B50B6-233E-9763-0C0A-F29C428F7B4C}"/>
              </a:ext>
            </a:extLst>
          </p:cNvPr>
          <p:cNvPicPr>
            <a:picLocks noGrp="1" noChangeAspect="1"/>
          </p:cNvPicPr>
          <p:nvPr>
            <p:ph idx="1"/>
          </p:nvPr>
        </p:nvPicPr>
        <p:blipFill>
          <a:blip r:embed="rId2"/>
          <a:stretch>
            <a:fillRect/>
          </a:stretch>
        </p:blipFill>
        <p:spPr>
          <a:xfrm>
            <a:off x="2707434" y="255588"/>
            <a:ext cx="6777131" cy="4027487"/>
          </a:xfrm>
          <a:prstGeom prst="rect">
            <a:avLst/>
          </a:prstGeom>
        </p:spPr>
      </p:pic>
    </p:spTree>
    <p:extLst>
      <p:ext uri="{BB962C8B-B14F-4D97-AF65-F5344CB8AC3E}">
        <p14:creationId xmlns:p14="http://schemas.microsoft.com/office/powerpoint/2010/main" val="3511478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472BE-82CD-8469-C51D-1B7EE62F0C1C}"/>
              </a:ext>
            </a:extLst>
          </p:cNvPr>
          <p:cNvSpPr>
            <a:spLocks noGrp="1"/>
          </p:cNvSpPr>
          <p:nvPr>
            <p:ph type="title"/>
          </p:nvPr>
        </p:nvSpPr>
        <p:spPr>
          <a:xfrm>
            <a:off x="838200" y="4899991"/>
            <a:ext cx="10515600" cy="1393101"/>
          </a:xfrm>
        </p:spPr>
        <p:txBody>
          <a:bodyPr>
            <a:normAutofit/>
          </a:bodyPr>
          <a:lstStyle/>
          <a:p>
            <a:r>
              <a:rPr lang="en-GB" sz="2000" dirty="0">
                <a:solidFill>
                  <a:srgbClr val="0F0F0F"/>
                </a:solidFill>
              </a:rPr>
              <a:t>The plot shows that precision increases sharply for higher-degree models on the training set, but drops noticeably on the validation and test sets. This gap indicates growing overfitting as model complexity increases.</a:t>
            </a:r>
            <a:br>
              <a:rPr lang="en-GB" sz="2000" dirty="0"/>
            </a:br>
            <a:endParaRPr lang="en-GB" sz="2000" dirty="0"/>
          </a:p>
        </p:txBody>
      </p:sp>
      <p:pic>
        <p:nvPicPr>
          <p:cNvPr id="5" name="Content Placeholder 4">
            <a:extLst>
              <a:ext uri="{FF2B5EF4-FFF2-40B4-BE49-F238E27FC236}">
                <a16:creationId xmlns:a16="http://schemas.microsoft.com/office/drawing/2014/main" id="{817C1D8D-3AA7-1793-89F4-90887BC064E5}"/>
              </a:ext>
            </a:extLst>
          </p:cNvPr>
          <p:cNvPicPr>
            <a:picLocks noGrp="1" noChangeAspect="1"/>
          </p:cNvPicPr>
          <p:nvPr>
            <p:ph idx="1"/>
          </p:nvPr>
        </p:nvPicPr>
        <p:blipFill>
          <a:blip r:embed="rId2"/>
          <a:stretch>
            <a:fillRect/>
          </a:stretch>
        </p:blipFill>
        <p:spPr>
          <a:xfrm>
            <a:off x="2823636" y="365125"/>
            <a:ext cx="6544727" cy="3889375"/>
          </a:xfrm>
          <a:prstGeom prst="rect">
            <a:avLst/>
          </a:prstGeom>
        </p:spPr>
      </p:pic>
    </p:spTree>
    <p:extLst>
      <p:ext uri="{BB962C8B-B14F-4D97-AF65-F5344CB8AC3E}">
        <p14:creationId xmlns:p14="http://schemas.microsoft.com/office/powerpoint/2010/main" val="3608720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2743-BE57-C9B2-3645-7E3F557FDED7}"/>
              </a:ext>
            </a:extLst>
          </p:cNvPr>
          <p:cNvSpPr>
            <a:spLocks noGrp="1"/>
          </p:cNvSpPr>
          <p:nvPr>
            <p:ph type="title"/>
          </p:nvPr>
        </p:nvSpPr>
        <p:spPr>
          <a:xfrm>
            <a:off x="838200" y="4890053"/>
            <a:ext cx="10515600" cy="1511784"/>
          </a:xfrm>
        </p:spPr>
        <p:txBody>
          <a:bodyPr>
            <a:normAutofit/>
          </a:bodyPr>
          <a:lstStyle/>
          <a:p>
            <a:r>
              <a:rPr lang="en-GB" sz="2000" dirty="0">
                <a:solidFill>
                  <a:srgbClr val="0F0F0F"/>
                </a:solidFill>
              </a:rPr>
              <a:t>The plot shows that recall rises sharply on the training set as model complexity increases, but the validation and test recall improve only slightly. This widening gap indicates that higher-degree models start overfitting by memorizing patterns in the training data rather than generalizing well.</a:t>
            </a:r>
          </a:p>
        </p:txBody>
      </p:sp>
      <p:pic>
        <p:nvPicPr>
          <p:cNvPr id="5" name="Content Placeholder 4">
            <a:extLst>
              <a:ext uri="{FF2B5EF4-FFF2-40B4-BE49-F238E27FC236}">
                <a16:creationId xmlns:a16="http://schemas.microsoft.com/office/drawing/2014/main" id="{26A74B3B-FB69-AED7-1C37-ED73FF1BB365}"/>
              </a:ext>
            </a:extLst>
          </p:cNvPr>
          <p:cNvPicPr>
            <a:picLocks noGrp="1" noChangeAspect="1"/>
          </p:cNvPicPr>
          <p:nvPr>
            <p:ph idx="1"/>
          </p:nvPr>
        </p:nvPicPr>
        <p:blipFill>
          <a:blip r:embed="rId2"/>
          <a:stretch>
            <a:fillRect/>
          </a:stretch>
        </p:blipFill>
        <p:spPr>
          <a:xfrm>
            <a:off x="2691407" y="207963"/>
            <a:ext cx="6809186" cy="4046537"/>
          </a:xfrm>
          <a:prstGeom prst="rect">
            <a:avLst/>
          </a:prstGeom>
        </p:spPr>
      </p:pic>
    </p:spTree>
    <p:extLst>
      <p:ext uri="{BB962C8B-B14F-4D97-AF65-F5344CB8AC3E}">
        <p14:creationId xmlns:p14="http://schemas.microsoft.com/office/powerpoint/2010/main" val="1857059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1E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B182-4F22-30A1-233B-502B7B31C0B6}"/>
              </a:ext>
            </a:extLst>
          </p:cNvPr>
          <p:cNvSpPr>
            <a:spLocks noGrp="1"/>
          </p:cNvSpPr>
          <p:nvPr>
            <p:ph type="title"/>
          </p:nvPr>
        </p:nvSpPr>
        <p:spPr>
          <a:xfrm>
            <a:off x="838200" y="4989443"/>
            <a:ext cx="10515600" cy="1521723"/>
          </a:xfrm>
        </p:spPr>
        <p:txBody>
          <a:bodyPr>
            <a:normAutofit/>
          </a:bodyPr>
          <a:lstStyle/>
          <a:p>
            <a:r>
              <a:rPr lang="en-GB" sz="2000" dirty="0">
                <a:solidFill>
                  <a:srgbClr val="0F0F0F"/>
                </a:solidFill>
              </a:rPr>
              <a:t>The ROC curve shows that the degree-5 polynomial model achieves a very strong AUC of about </a:t>
            </a:r>
            <a:r>
              <a:rPr lang="en-GB" sz="2000" b="1" dirty="0">
                <a:solidFill>
                  <a:srgbClr val="0F0F0F"/>
                </a:solidFill>
              </a:rPr>
              <a:t>0.96</a:t>
            </a:r>
            <a:r>
              <a:rPr lang="en-GB" sz="2000" dirty="0">
                <a:solidFill>
                  <a:srgbClr val="0F0F0F"/>
                </a:solidFill>
              </a:rPr>
              <a:t>, indicating excellent ability to distinguish between churn and non-churn customers. The curve stays close to the top-left corner, which reflects a high true-positive rate while keeping false positives low.</a:t>
            </a:r>
          </a:p>
        </p:txBody>
      </p:sp>
      <p:pic>
        <p:nvPicPr>
          <p:cNvPr id="5" name="Content Placeholder 4">
            <a:extLst>
              <a:ext uri="{FF2B5EF4-FFF2-40B4-BE49-F238E27FC236}">
                <a16:creationId xmlns:a16="http://schemas.microsoft.com/office/drawing/2014/main" id="{62EC0440-5097-8B60-0135-B0C901624D92}"/>
              </a:ext>
            </a:extLst>
          </p:cNvPr>
          <p:cNvPicPr>
            <a:picLocks noGrp="1" noChangeAspect="1"/>
          </p:cNvPicPr>
          <p:nvPr>
            <p:ph idx="1"/>
          </p:nvPr>
        </p:nvPicPr>
        <p:blipFill>
          <a:blip r:embed="rId2"/>
          <a:stretch>
            <a:fillRect/>
          </a:stretch>
        </p:blipFill>
        <p:spPr>
          <a:xfrm>
            <a:off x="3558302" y="493713"/>
            <a:ext cx="5075395" cy="4008437"/>
          </a:xfrm>
          <a:prstGeom prst="rect">
            <a:avLst/>
          </a:prstGeom>
        </p:spPr>
      </p:pic>
    </p:spTree>
    <p:extLst>
      <p:ext uri="{BB962C8B-B14F-4D97-AF65-F5344CB8AC3E}">
        <p14:creationId xmlns:p14="http://schemas.microsoft.com/office/powerpoint/2010/main" val="711952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328</Words>
  <Application>Microsoft Office PowerPoint</Application>
  <PresentationFormat>Widescreen</PresentationFormat>
  <Paragraphs>18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Assigment#2</vt:lpstr>
      <vt:lpstr>Part#1-(A):Non-Linaer regression </vt:lpstr>
      <vt:lpstr>B) non-linear regression (without regularization) 1 RBF function</vt:lpstr>
      <vt:lpstr>5 RBF functions</vt:lpstr>
      <vt:lpstr> 10 RBF functions</vt:lpstr>
      <vt:lpstr>50 RBF functions</vt:lpstr>
      <vt:lpstr>Part 2 – Logistic Regression</vt:lpstr>
      <vt:lpstr>The plot shows that all models achieve very similar accuracy across the training, validation, and test sets, which indicates that there is no strong overfitting. It also suggests that the models generalize well, even as polynomial complexity increases.</vt:lpstr>
      <vt:lpstr>The plot shows that precision increases sharply for higher-degree models on the training set, but drops noticeably on the validation and test sets. This gap indicates growing overfitting as model complexity increases. </vt:lpstr>
      <vt:lpstr>The plot shows that recall rises sharply on the training set as model complexity increases, but the validation and test recall improve only slightly. This widening gap indicates that higher-degree models start overfitting by memorizing patterns in the training data rather than generalizing well.</vt:lpstr>
      <vt:lpstr>The ROC curve shows that the degree-5 polynomial model achieves a very strong AUC of about 0.96, indicating excellent ability to distinguish between churn and non-churn customers. The curve stays close to the top-left corner, which reflects a high true-positive rate while keeping false positives 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عبدالرحمن عطياني</dc:creator>
  <cp:lastModifiedBy>Tareq Nazzal</cp:lastModifiedBy>
  <cp:revision>6</cp:revision>
  <dcterms:created xsi:type="dcterms:W3CDTF">2025-11-25T18:41:16Z</dcterms:created>
  <dcterms:modified xsi:type="dcterms:W3CDTF">2025-11-25T19:49:36Z</dcterms:modified>
</cp:coreProperties>
</file>